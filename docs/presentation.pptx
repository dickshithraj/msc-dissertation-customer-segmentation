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0942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with the one-line story: raw transactions go in at the top; a costed, per-customer marketing action comes out at the bottom — automatically, reproducibly, and with the money quantified BEFORE any campaign is 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this to 90 seconds. The framed box is the thesis of the whole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 breath per objective. Emphasise: each objective is measurable and each is discharged in an identified chapter of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Point down the figure as you name the layers. Close with the one-way data flow point — it is what makes the system auditable.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Stress the audit table: nothing is silently dropped — this is the evidence an examiner or auditor would ask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and the next slide are your strongest methodology minutes. The point is not any single algorithm — it is that the choice is made by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 the rule verbatim — being pre-declared is what makes the selection reproducible and criticisable. Rigour changed the answer: K-Means was rejected.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counter-intuitive highlight: the customers HDBSCAN refuses to classify are the highest-value accounts. Forcing them into a segment would mis-target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Honest caveat if asked: no temporal hold-out (data ends 2011), so CLV is used as a ranking, not a validated forecast — listed in threats to validity.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“An AUC near 1.0 would have been a red flag for leakage; 0.849 with the guard is a credible ceiling.” Drivers: Tenure 0.37, cadence 0.22.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one plan row aloud from the dashboard in the demo: segment, CLV, risk, action, priority, contact day. Expensive attention is rare by construction.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Pre-empt the objection yourself: response rates are documented planning assumptions, not fitted — which is exactly why the uplift, not the absolute ROI, is the headline. A/B calibration is future work item #1.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Have Streamlit already running before the meeting. If the demo fails, this screenshot and the PDF figures are the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 breath for the whole slide if time is short — but do not skip the tests and reproducibility lines; they anchor the professional-practice 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Volunteering limitations earns marks. Each limitation pairs with a future-work item that would resolve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on the loop: most published studies stop at the clusters; this project goes all the way to the campaign plan and the money.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434840"/>
            <a:ext cx="12191695" cy="54864"/>
          </a:xfrm>
          <a:prstGeom prst="rect">
            <a:avLst/>
          </a:prstGeom>
          <a:solidFill>
            <a:srgbClr val="11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Optimizing Targeted Marketing:
A Framework for Customer Segmentation and Automated Cluster-Based Notification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663440"/>
            <a:ext cx="10332720" cy="116217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200" b="1" i="0" dirty="0">
                <a:solidFill>
                  <a:srgbClr val="FFFFFF"/>
                </a:solidFill>
                <a:latin typeface="Calibri"/>
              </a:rPr>
              <a:t>Dickshith Raj Nagaraj</a:t>
            </a:r>
          </a:p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600" b="0" i="0" dirty="0">
                <a:solidFill>
                  <a:srgbClr val="BDD7EE"/>
                </a:solidFill>
                <a:latin typeface="Calibri"/>
              </a:rPr>
              <a:t>MSc Advanced Computer Science — University of Leeds — Session 2025/2026</a:t>
            </a:r>
          </a:p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lang="en-IN" sz="1600" dirty="0">
                <a:solidFill>
                  <a:srgbClr val="BDD7EE"/>
                </a:solidFill>
                <a:latin typeface="Calibri"/>
              </a:rPr>
              <a:t>ASSESSOR</a:t>
            </a:r>
            <a:r>
              <a:rPr sz="1600" b="0" i="0" dirty="0">
                <a:solidFill>
                  <a:srgbClr val="BDD7EE"/>
                </a:solidFill>
                <a:latin typeface="Calibri"/>
              </a:rPr>
              <a:t>: Dr </a:t>
            </a:r>
            <a:r>
              <a:rPr lang="en-IN" sz="1600" dirty="0" err="1">
                <a:solidFill>
                  <a:srgbClr val="BDD7EE"/>
                </a:solidFill>
                <a:latin typeface="Calibri"/>
              </a:rPr>
              <a:t>Dibyayan</a:t>
            </a:r>
            <a:r>
              <a:rPr lang="en-IN" sz="1600">
                <a:solidFill>
                  <a:srgbClr val="BDD7EE"/>
                </a:solidFill>
                <a:latin typeface="Calibri"/>
              </a:rPr>
              <a:t> Chakraborty</a:t>
            </a:r>
            <a:endParaRPr sz="1600" b="0" i="0" dirty="0">
              <a:solidFill>
                <a:srgbClr val="BDD7E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The Problem: Blanket Marketing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384048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400" b="1" i="0">
                <a:solidFill>
                  <a:srgbClr val="BF8F00"/>
                </a:solidFill>
                <a:latin typeface="Calibri"/>
              </a:rPr>
              <a:t>2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228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5568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000" b="0" i="0">
                <a:solidFill>
                  <a:srgbClr val="404040"/>
                </a:solidFill>
                <a:latin typeface="Calibri"/>
              </a:rPr>
              <a:t>•  Retailers hold rich transactional data …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000" b="0" i="0">
                <a:solidFill>
                  <a:srgbClr val="404040"/>
                </a:solidFill>
                <a:latin typeface="Calibri"/>
              </a:rPr>
              <a:t>•  … yet most outbound marketing is still “blanket”: every customer gets the same message.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000" b="1" i="0">
                <a:solidFill>
                  <a:srgbClr val="404040"/>
                </a:solidFill>
                <a:latin typeface="Calibri"/>
              </a:rPr>
              <a:t>•  Doubly wasteful: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00" b="0" i="0">
                <a:solidFill>
                  <a:srgbClr val="404040"/>
                </a:solidFill>
                <a:latin typeface="Calibri"/>
              </a:rPr>
              <a:t>     •  spends contact budget on customers who will never respond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00" b="0" i="0">
                <a:solidFill>
                  <a:srgbClr val="404040"/>
                </a:solidFill>
                <a:latin typeface="Calibri"/>
              </a:rPr>
              <a:t>     •  fatigues high-value customers with irrelevant contact — eroding the very lifetime value it should protect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846320"/>
            <a:ext cx="11155680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502920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00" b="1" i="0">
                <a:solidFill>
                  <a:srgbClr val="1F4E79"/>
                </a:solidFill>
                <a:latin typeface="Calibri"/>
              </a:rPr>
              <a:t>Research question: how do you convert a raw retail transaction log — automatically, reproducibly, and with quantified financial justification — into a per-customer, prioritised marketing-notification plan?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Aim &amp; Six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384048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400" b="1" i="0">
                <a:solidFill>
                  <a:srgbClr val="BF8F00"/>
                </a:solidFill>
                <a:latin typeface="Calibri"/>
              </a:rPr>
              <a:t>2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228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5568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900" b="0" i="0">
                <a:solidFill>
                  <a:srgbClr val="404040"/>
                </a:solidFill>
                <a:latin typeface="Calibri"/>
              </a:rPr>
              <a:t>•  O1 — Background research: systematic survey justifying every method choice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900" b="0" i="0">
                <a:solidFill>
                  <a:srgbClr val="404040"/>
                </a:solidFill>
                <a:latin typeface="Calibri"/>
              </a:rPr>
              <a:t>•  O2 — Data foundation: auditable cleaning + RFM+ feature engineering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900" b="0" i="0">
                <a:solidFill>
                  <a:srgbClr val="404040"/>
                </a:solidFill>
                <a:latin typeface="Calibri"/>
              </a:rPr>
              <a:t>•  O3 — Validated segmentation: 6 algorithms benchmarked, pre-declared selection rule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900" b="0" i="0">
                <a:solidFill>
                  <a:srgbClr val="404040"/>
                </a:solidFill>
                <a:latin typeface="Calibri"/>
              </a:rPr>
              <a:t>•  O4 — Predictive layer: probabilistic CLV + leakage-guarded churn models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900" b="0" i="0">
                <a:solidFill>
                  <a:srgbClr val="404040"/>
                </a:solidFill>
                <a:latin typeface="Calibri"/>
              </a:rPr>
              <a:t>•  O5 — Decision layer: rule-based notification engine + dashboard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900" b="0" i="0">
                <a:solidFill>
                  <a:srgbClr val="404040"/>
                </a:solidFill>
                <a:latin typeface="Calibri"/>
              </a:rPr>
              <a:t>•  O6 — Commercial quantification: Monte Carlo ROI vs untargeted baseline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394960"/>
            <a:ext cx="2651760" cy="1005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5468112"/>
            <a:ext cx="24688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100" b="1" i="0">
                <a:solidFill>
                  <a:srgbClr val="117A82"/>
                </a:solidFill>
                <a:latin typeface="Calibri"/>
              </a:rPr>
              <a:t>UCI Online Retail 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943600"/>
            <a:ext cx="24688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404040"/>
                </a:solidFill>
                <a:latin typeface="Calibri"/>
              </a:rPr>
              <a:t>public dataset, 2009–2011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5394960"/>
            <a:ext cx="2651760" cy="1005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0" y="5468112"/>
            <a:ext cx="24688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100" b="1" i="0">
                <a:solidFill>
                  <a:srgbClr val="117A82"/>
                </a:solidFill>
                <a:latin typeface="Calibri"/>
              </a:rPr>
              <a:t>~160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5943600"/>
            <a:ext cx="24688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404040"/>
                </a:solidFill>
                <a:latin typeface="Calibri"/>
              </a:rPr>
              <a:t>full pipeline, commodity CPU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5394960"/>
            <a:ext cx="2651760" cy="1005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79" y="5468112"/>
            <a:ext cx="24688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100" b="1" i="0">
                <a:solidFill>
                  <a:srgbClr val="117A82"/>
                </a:solidFill>
                <a:latin typeface="Calibri"/>
              </a:rPr>
              <a:t>Stages 1 →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79" y="5943600"/>
            <a:ext cx="24688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404040"/>
                </a:solidFill>
                <a:latin typeface="Calibri"/>
              </a:rPr>
              <a:t>one auditable pipeline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5394960"/>
            <a:ext cx="2651760" cy="1005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1" y="5415264"/>
            <a:ext cx="24688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100" b="1" i="0" dirty="0">
                <a:solidFill>
                  <a:srgbClr val="117A82"/>
                </a:solidFill>
                <a:latin typeface="Calibri"/>
              </a:rPr>
              <a:t>Exploratory software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04021" y="6108192"/>
            <a:ext cx="24688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50" b="0" i="0" dirty="0">
                <a:solidFill>
                  <a:srgbClr val="404040"/>
                </a:solidFill>
                <a:latin typeface="Calibri"/>
              </a:rPr>
              <a:t>MSc project type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System Architecture — Five Layers, Stages 1–10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384048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400" b="1" i="0">
                <a:solidFill>
                  <a:srgbClr val="BF8F00"/>
                </a:solidFill>
                <a:latin typeface="Calibri"/>
              </a:rPr>
              <a:t>2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228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ystem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143000"/>
            <a:ext cx="4035296" cy="5577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325880"/>
            <a:ext cx="667512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•  Layer 1 — Data foundation: Stage 1 load &amp; clean, 2 features, 2b preprocessing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•  Layer 2 — Segmentation: Stage 3 clustering ×6, 3b validation, 4 profiling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•  Layer 3 — Customer intelligence: Stage 5 CLV, 6 churn, 7 migration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•  Layer 4 — Decision engine: Stage 8 notifications, 9 Monte Carlo ROI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•  Layer 5 — Delivery: Stage 10 dashboard + artefact store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 i="0">
                <a:solidFill>
                  <a:srgbClr val="1F4E79"/>
                </a:solidFill>
                <a:latin typeface="Calibri"/>
              </a:rPr>
              <a:t>•  Data flows strictly one way; every stage persists its artefacts → independently re-runnable, trivially auditable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Stages 1–2b — Data, Cleaning,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384048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400" b="1" i="0">
                <a:solidFill>
                  <a:srgbClr val="BF8F00"/>
                </a:solidFill>
                <a:latin typeface="Calibri"/>
              </a:rPr>
              <a:t>3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228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667512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1" i="0">
                <a:solidFill>
                  <a:srgbClr val="404040"/>
                </a:solidFill>
                <a:latin typeface="Calibri"/>
              </a:rPr>
              <a:t>•  Four sequential, logged cleaning rules (every exclusion measured):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     •  missing Customer ID  −243,007 rows (22.77%)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     •  cancellations (“C” invoices)  −18,744 (2.27%)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     •  invalid quantity/price  −89 (0.01%)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     •  exact duplicates  −11,940 (1.48%)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 i="0">
                <a:solidFill>
                  <a:srgbClr val="404040"/>
                </a:solidFill>
                <a:latin typeface="Calibri"/>
              </a:rPr>
              <a:t>•  7 behavioural features per customer: RFM + Tenure, AvgOrderValue, AvgInterPurchaseDays, DistinctProducts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 i="0">
                <a:solidFill>
                  <a:srgbClr val="404040"/>
                </a:solidFill>
                <a:latin typeface="Calibri"/>
              </a:rPr>
              <a:t>•  Skew-gated preprocessing: log1p only where |skew| &gt; 0.5, then z-scaling — correct geometry for distance-based clustering</a:t>
            </a:r>
          </a:p>
        </p:txBody>
      </p:sp>
      <p:pic>
        <p:nvPicPr>
          <p:cNvPr id="7" name="Picture 6" descr="scaling_eff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554480"/>
            <a:ext cx="4663440" cy="12969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5394960"/>
            <a:ext cx="2651760" cy="1005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5468112"/>
            <a:ext cx="24688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100" b="1" i="0">
                <a:solidFill>
                  <a:srgbClr val="117A82"/>
                </a:solidFill>
                <a:latin typeface="Calibri"/>
              </a:rPr>
              <a:t>1.07M → 794K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943600"/>
            <a:ext cx="24688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404040"/>
                </a:solidFill>
                <a:latin typeface="Calibri"/>
              </a:rPr>
              <a:t>raw → audited rows (−25.65%)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5394960"/>
            <a:ext cx="2651760" cy="1005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0" y="5468112"/>
            <a:ext cx="24688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100" b="1" i="0">
                <a:solidFill>
                  <a:srgbClr val="117A82"/>
                </a:solidFill>
                <a:latin typeface="Calibri"/>
              </a:rPr>
              <a:t>5,878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5943600"/>
            <a:ext cx="24688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404040"/>
                </a:solidFill>
                <a:latin typeface="Calibri"/>
              </a:rPr>
              <a:t>unique customers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5394960"/>
            <a:ext cx="2651760" cy="1005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79" y="5468112"/>
            <a:ext cx="24688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100" b="1" i="0">
                <a:solidFill>
                  <a:srgbClr val="117A82"/>
                </a:solidFill>
                <a:latin typeface="Calibri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79" y="5943600"/>
            <a:ext cx="24688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404040"/>
                </a:solidFill>
                <a:latin typeface="Calibri"/>
              </a:rPr>
              <a:t>behavioural features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5394960"/>
            <a:ext cx="2651760" cy="1005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35440" y="5468112"/>
            <a:ext cx="24688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100" b="1" i="0">
                <a:solidFill>
                  <a:srgbClr val="117A82"/>
                </a:solidFill>
                <a:latin typeface="Calibri"/>
              </a:rPr>
              <a:t>Audit 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5943600"/>
            <a:ext cx="24688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404040"/>
                </a:solidFill>
                <a:latin typeface="Calibri"/>
              </a:rPr>
              <a:t>persisted for every rule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Stage 3 — Six Clustering Algorithms, Five Families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384048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400" b="1" i="0">
                <a:solidFill>
                  <a:srgbClr val="BF8F00"/>
                </a:solidFill>
                <a:latin typeface="Calibri"/>
              </a:rPr>
              <a:t>4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228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luster_pca_proj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188720"/>
            <a:ext cx="5085073" cy="5394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325880"/>
            <a:ext cx="68580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 i="0">
                <a:solidFill>
                  <a:srgbClr val="404040"/>
                </a:solidFill>
                <a:latin typeface="Calibri"/>
              </a:rPr>
              <a:t>•  Literature: no single algorithm dominates → choose empirically per dataset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•  K-Means · GMM · DBSCAN · HDBSCAN · Agglomerative (Ward) · Spectral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•  Automatic hyper-parameter selection: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     •  K-Means: elbow (k=4) vs silhouette (k=2) — heuristics disagree; reported, not hidden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     •  GMM: BIC picks 10 components — a warning sign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     •  DBSCAN: ε from k-distance knee · HDBSCAN: min cluster size 50 (~1% of base)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•  All six projected on identical PCA axes (76.6% variance) for like-for-like comparison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Stage 3b — Validation, Stability, Pre-Declared Selection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155680" cy="228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tability_a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234440"/>
            <a:ext cx="4800600" cy="34044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325880"/>
            <a:ext cx="64922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•  Three internal indices: silhouette, Davies–Bouldin, Calinski–Harabasz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•  Stability: 50 bootstrap resamples, Adjusted Rand Index vs full-data partition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 i="0">
                <a:solidFill>
                  <a:srgbClr val="1F4E79"/>
                </a:solidFill>
                <a:latin typeface="Calibri"/>
              </a:rPr>
              <a:t>•  Selection rule (pre-declared, applied mechanically):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     •  1. disqualify noise fraction &gt; 30%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     •  2. require mean bootstrap ARI ≥ 0.70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     •  3. among survivors: highest silhouette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 i="0">
                <a:solidFill>
                  <a:srgbClr val="117A82"/>
                </a:solidFill>
                <a:latin typeface="Calibri"/>
              </a:rPr>
              <a:t>•  Winner: HDBSCAN — silhouette 0.416, best overall rank 1.75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•  Honest negatives: DBSCAN collapsed (ARI ≈ 0, eliminated mechanically); GMM over-fragmented (silhouette 0.081); K-Means default rejected by evidence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Stage 4 — Three Operational Segments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155680" cy="228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egment_profi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325880"/>
            <a:ext cx="5120640" cy="2877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325880"/>
            <a:ext cx="621792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 i="0">
                <a:solidFill>
                  <a:srgbClr val="404040"/>
                </a:solidFill>
                <a:latin typeface="Calibri"/>
              </a:rPr>
              <a:t>•  General Customers — 3,218 (54.8%): the mainstream; moderate recency, frequency ≈7, spend ≈£2,422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 i="0">
                <a:solidFill>
                  <a:srgbClr val="404040"/>
                </a:solidFill>
                <a:latin typeface="Calibri"/>
              </a:rPr>
              <a:t>•  Lost Customers — 1,546 (26.3%): exactly one purchase, tenure 0, recency 363 days — a sharply defined lapsed group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1" i="0">
                <a:solidFill>
                  <a:srgbClr val="404040"/>
                </a:solidFill>
                <a:latin typeface="Calibri"/>
              </a:rPr>
              <a:t>•  Noise / Uncategorised — 1,114 (19.0%): a finding, not a failure — the most valuable, most heterogeneous customers (mean spend £8,467)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 i="0">
                <a:solidFill>
                  <a:srgbClr val="404040"/>
                </a:solidFill>
                <a:latin typeface="Calibri"/>
              </a:rPr>
              <a:t>•  Deterministic naming rules → same profile always gets the same marketing name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 i="0">
                <a:solidFill>
                  <a:srgbClr val="1F4E79"/>
                </a:solidFill>
                <a:latin typeface="Calibri"/>
              </a:rPr>
              <a:t>•  Noise customers are excluded from generic campaigns and flagged for individual treatment — marketing-meaningful, ethically safer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Stage 5 — Customer Lifetime Value (BG/NBD + Gamma–Gamma)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384048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400" b="1" i="0">
                <a:solidFill>
                  <a:srgbClr val="BF8F00"/>
                </a:solidFill>
                <a:latin typeface="Calibri"/>
              </a:rPr>
              <a:t>4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228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lv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463040"/>
            <a:ext cx="5303520" cy="20342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325880"/>
            <a:ext cx="60350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 i="0">
                <a:solidFill>
                  <a:srgbClr val="404040"/>
                </a:solidFill>
                <a:latin typeface="Calibri"/>
              </a:rPr>
              <a:t>•  Probabilistic models built for non-contractual retail — customers lapse silently, never “cancel”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 i="0">
                <a:solidFill>
                  <a:srgbClr val="404040"/>
                </a:solidFill>
                <a:latin typeface="Calibri"/>
              </a:rPr>
              <a:t>•  Independence assumption (frequency vs value) checked before fitting: ≈ 0 ✓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 i="0">
                <a:solidFill>
                  <a:srgbClr val="404040"/>
                </a:solidFill>
                <a:latin typeface="Calibri"/>
              </a:rPr>
              <a:t>•  Outputs per customer: P(alive), expected purchases at 90/180/365 days, 12-month discounted CLV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 i="0">
                <a:solidFill>
                  <a:srgbClr val="404040"/>
                </a:solidFill>
                <a:latin typeface="Calibri"/>
              </a:rPr>
              <a:t>•  Classic long tail: top decile holds a disproportionate share of value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 i="0">
                <a:solidFill>
                  <a:srgbClr val="1F4E79"/>
                </a:solidFill>
                <a:latin typeface="Calibri"/>
              </a:rPr>
              <a:t>•  Role in the system: relative value ranking that feeds the CLV tiers of the decision engine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394960"/>
            <a:ext cx="2651760" cy="1005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5468112"/>
            <a:ext cx="24688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100" b="1" i="0">
                <a:solidFill>
                  <a:srgbClr val="117A82"/>
                </a:solidFill>
                <a:latin typeface="Calibri"/>
              </a:rPr>
              <a:t>£8.33M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943600"/>
            <a:ext cx="24688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404040"/>
                </a:solidFill>
                <a:latin typeface="Calibri"/>
              </a:rPr>
              <a:t>12-month portfolio CLV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5394960"/>
            <a:ext cx="2651760" cy="1005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0" y="5468112"/>
            <a:ext cx="24688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100" b="1" i="0">
                <a:solidFill>
                  <a:srgbClr val="117A82"/>
                </a:solidFill>
                <a:latin typeface="Calibri"/>
              </a:rPr>
              <a:t>£371 / £1,418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5943600"/>
            <a:ext cx="24688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404040"/>
                </a:solidFill>
                <a:latin typeface="Calibri"/>
              </a:rPr>
              <a:t>median / mean CLV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5394960"/>
            <a:ext cx="2651760" cy="1005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79" y="5468112"/>
            <a:ext cx="24688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100" b="1" i="0">
                <a:solidFill>
                  <a:srgbClr val="117A82"/>
                </a:solidFill>
                <a:latin typeface="Calibri"/>
              </a:rPr>
              <a:t>0.909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79" y="5943600"/>
            <a:ext cx="24688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404040"/>
                </a:solidFill>
                <a:latin typeface="Calibri"/>
              </a:rPr>
              <a:t>mean P(alive)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5394960"/>
            <a:ext cx="2651760" cy="1005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35440" y="5468112"/>
            <a:ext cx="24688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100" b="1" i="0">
                <a:solidFill>
                  <a:srgbClr val="117A82"/>
                </a:solidFill>
                <a:latin typeface="Calibri"/>
              </a:rPr>
              <a:t>90/180/365 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5943600"/>
            <a:ext cx="24688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404040"/>
                </a:solidFill>
                <a:latin typeface="Calibri"/>
              </a:rPr>
              <a:t>purchase forecasts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Stage 6 — Churn: Six Classifiers Under a Leakage Guard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155680" cy="228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hurn_roc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234440"/>
            <a:ext cx="4754880" cy="40605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325880"/>
            <a:ext cx="64922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•  Label: Recency &gt; 90th percentile (535 days) → 10% churners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 i="0">
                <a:solidFill>
                  <a:srgbClr val="1F4E79"/>
                </a:solidFill>
                <a:latin typeface="Calibri"/>
              </a:rPr>
              <a:t>•  Leakage guard: label is derived from Recency → Recency EXCLUDED from features (verified by unit test)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•  Best: Random Forest — ROC-AUC 0.849, recall 0.752 …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•  … but McNemar exact test: RF vs XGBoost p = 0.878 → statistically tied; no over-claimed “winner”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 i="0">
                <a:solidFill>
                  <a:srgbClr val="404040"/>
                </a:solidFill>
                <a:latin typeface="Calibri"/>
              </a:rPr>
              <a:t>•  Deliberate contrast: GB &amp; KNN left unweighted → ROC-AUC ≈0.85 but recall collapses to 0.03–0.07 — ROC-AUC alone misleads under imbalance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•  Error asymmetry: a missed churner costs £371+ CLV; a wasted retention email costs pence → recall-heavy operating points are economically rational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5816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 dirty="0">
                <a:solidFill>
                  <a:srgbClr val="1F4E79"/>
                </a:solidFill>
                <a:latin typeface="Calibri"/>
              </a:rPr>
              <a:t>Stage </a:t>
            </a:r>
            <a:r>
              <a:rPr lang="en-IN" sz="3000" b="1" i="0" dirty="0">
                <a:solidFill>
                  <a:srgbClr val="1F4E79"/>
                </a:solidFill>
                <a:latin typeface="Calibri"/>
              </a:rPr>
              <a:t>7</a:t>
            </a:r>
            <a:r>
              <a:rPr sz="3000" b="1" i="0" dirty="0">
                <a:solidFill>
                  <a:srgbClr val="1F4E79"/>
                </a:solidFill>
                <a:latin typeface="Calibri"/>
              </a:rPr>
              <a:t> — Rule-Based Notification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384048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400" b="1" i="0">
                <a:solidFill>
                  <a:srgbClr val="BF8F00"/>
                </a:solidFill>
                <a:latin typeface="Calibri"/>
              </a:rPr>
              <a:t>3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228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5568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1" i="0">
                <a:solidFill>
                  <a:srgbClr val="404040"/>
                </a:solidFill>
                <a:latin typeface="Calibri"/>
              </a:rPr>
              <a:t>•  Where analysis becomes action — the gap most published studies leave open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 i="0">
                <a:solidFill>
                  <a:srgbClr val="404040"/>
                </a:solidFill>
                <a:latin typeface="Calibri"/>
              </a:rPr>
              <a:t>•  Inputs per customer: segment name + CLV tier (80th/40th pct) + churn band (0.50/0.25)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 i="0">
                <a:solidFill>
                  <a:srgbClr val="404040"/>
                </a:solidFill>
                <a:latin typeface="Calibri"/>
              </a:rPr>
              <a:t>•  Step 1 — segment playbook: action, channel, offer, base priority (1–5)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 i="0">
                <a:solidFill>
                  <a:srgbClr val="404040"/>
                </a:solidFill>
                <a:latin typeface="Calibri"/>
              </a:rPr>
              <a:t>•  Step 2 — value &amp; risk modulation: high-risk + valuable → “Priority retention intervention” on premium channels; low-value high-risk → cheap automated reactivation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 i="0">
                <a:solidFill>
                  <a:srgbClr val="404040"/>
                </a:solidFill>
                <a:latin typeface="Calibri"/>
              </a:rPr>
              <a:t>•  Step 3 — contact timing: 0.6 × the customer’s own inter-purchase interval — no fixed drumbeat, over-contact suppressed by construction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1" i="0">
                <a:solidFill>
                  <a:srgbClr val="1F4E79"/>
                </a:solidFill>
                <a:latin typeface="Calibri"/>
              </a:rPr>
              <a:t>•  Why rules, not a learned policy? Auditability (NFR5): every recommendation traceable, inspectable, overridable by a human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394960"/>
            <a:ext cx="2651760" cy="1005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5468112"/>
            <a:ext cx="24688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100" b="1" i="0">
                <a:solidFill>
                  <a:srgbClr val="117A82"/>
                </a:solidFill>
                <a:latin typeface="Calibri"/>
              </a:rPr>
              <a:t>5,878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943600"/>
            <a:ext cx="24688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404040"/>
                </a:solidFill>
                <a:latin typeface="Calibri"/>
              </a:rPr>
              <a:t>campaigns planned (all customers)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5394960"/>
            <a:ext cx="2651760" cy="1005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0" y="5468112"/>
            <a:ext cx="24688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100" b="1" i="0">
                <a:solidFill>
                  <a:srgbClr val="117A82"/>
                </a:solidFill>
                <a:latin typeface="Calibri"/>
              </a:rPr>
              <a:t>64  (1.1%)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5943600"/>
            <a:ext cx="24688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404040"/>
                </a:solidFill>
                <a:latin typeface="Calibri"/>
              </a:rPr>
              <a:t>priority retention interventions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5394960"/>
            <a:ext cx="2651760" cy="1005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79" y="5468112"/>
            <a:ext cx="24688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100" b="1" i="0">
                <a:solidFill>
                  <a:srgbClr val="117A82"/>
                </a:solidFill>
                <a:latin typeface="Calibri"/>
              </a:rPr>
              <a:t>3,023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79" y="5943600"/>
            <a:ext cx="24688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404040"/>
                </a:solidFill>
                <a:latin typeface="Calibri"/>
              </a:rPr>
              <a:t>engagement promotions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5394960"/>
            <a:ext cx="2651760" cy="1005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35440" y="5468112"/>
            <a:ext cx="24688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100" b="1" i="0">
                <a:solidFill>
                  <a:srgbClr val="117A82"/>
                </a:solidFill>
                <a:latin typeface="Calibri"/>
              </a:rPr>
              <a:t>recommend(id)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5943600"/>
            <a:ext cx="24688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404040"/>
                </a:solidFill>
                <a:latin typeface="Calibri"/>
              </a:rPr>
              <a:t>on-demand API → dashboard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5816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 dirty="0">
                <a:solidFill>
                  <a:srgbClr val="1F4E79"/>
                </a:solidFill>
                <a:latin typeface="Calibri"/>
              </a:rPr>
              <a:t>Stage </a:t>
            </a:r>
            <a:r>
              <a:rPr lang="en-IN" sz="3000" b="1" i="0" dirty="0">
                <a:solidFill>
                  <a:srgbClr val="1F4E79"/>
                </a:solidFill>
                <a:latin typeface="Calibri"/>
              </a:rPr>
              <a:t>8</a:t>
            </a:r>
            <a:r>
              <a:rPr sz="3000" b="1" i="0" dirty="0">
                <a:solidFill>
                  <a:srgbClr val="1F4E79"/>
                </a:solidFill>
                <a:latin typeface="Calibri"/>
              </a:rPr>
              <a:t> — Monte Carlo ROI vs Blanket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384048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400" b="1" i="0">
                <a:solidFill>
                  <a:srgbClr val="BF8F00"/>
                </a:solidFill>
                <a:latin typeface="Calibri"/>
              </a:rPr>
              <a:t>2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228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roi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371600"/>
            <a:ext cx="5257800" cy="19927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325880"/>
            <a:ext cx="60350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•  10,000 simulated worlds: Beta response priors → Binomial conversions → noisy revenue − real channel costs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 i="0">
                <a:solidFill>
                  <a:srgbClr val="404040"/>
                </a:solidFill>
                <a:latin typeface="Calibri"/>
              </a:rPr>
              <a:t>•  Targeted plan: mean ROI 38.4×, 95% CI [21.8×, 60.9×], P(ROI&gt;0) = 100%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•  Static blanket baseline (same machinery): 30.4×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900" b="1" i="0">
                <a:solidFill>
                  <a:srgbClr val="117A82"/>
                </a:solidFill>
                <a:latin typeface="Calibri"/>
              </a:rPr>
              <a:t>•  Headline: +168% profit uplift (+£15,025)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0" i="0">
                <a:solidFill>
                  <a:srgbClr val="1F4E79"/>
                </a:solidFill>
                <a:latin typeface="Calibri"/>
              </a:rPr>
              <a:t>•  Why the uplift is the defensible number: both plans share the same priors, margin and cost model → assumption errors cancel in the difference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623560"/>
            <a:ext cx="2651760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5696712"/>
            <a:ext cx="24688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100" b="1" i="0">
                <a:solidFill>
                  <a:srgbClr val="117A82"/>
                </a:solidFill>
                <a:latin typeface="Calibri"/>
              </a:rPr>
              <a:t>£623.50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172200"/>
            <a:ext cx="24688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404040"/>
                </a:solidFill>
                <a:latin typeface="Calibri"/>
              </a:rPr>
              <a:t>targeted contact cost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5623560"/>
            <a:ext cx="2651760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0" y="5696712"/>
            <a:ext cx="24688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100" b="1" i="0">
                <a:solidFill>
                  <a:srgbClr val="117A82"/>
                </a:solidFill>
                <a:latin typeface="Calibri"/>
              </a:rPr>
              <a:t>£293.90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6172200"/>
            <a:ext cx="24688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404040"/>
                </a:solidFill>
                <a:latin typeface="Calibri"/>
              </a:rPr>
              <a:t>blanket contact cost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5623560"/>
            <a:ext cx="2651760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79" y="5696712"/>
            <a:ext cx="24688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100" b="1" i="0">
                <a:solidFill>
                  <a:srgbClr val="117A82"/>
                </a:solidFill>
                <a:latin typeface="Calibri"/>
              </a:rPr>
              <a:t>38.4× vs 30.4×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79" y="6172200"/>
            <a:ext cx="24688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404040"/>
                </a:solidFill>
                <a:latin typeface="Calibri"/>
              </a:rPr>
              <a:t>targeted vs blanket ROI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5623560"/>
            <a:ext cx="2651760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35440" y="5696712"/>
            <a:ext cx="24688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100" b="1" i="0">
                <a:solidFill>
                  <a:srgbClr val="117A82"/>
                </a:solidFill>
                <a:latin typeface="Calibri"/>
              </a:rPr>
              <a:t>+168%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6172200"/>
            <a:ext cx="24688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404040"/>
                </a:solidFill>
                <a:latin typeface="Calibri"/>
              </a:rPr>
              <a:t>profit uplift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5816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 dirty="0">
                <a:solidFill>
                  <a:srgbClr val="1F4E79"/>
                </a:solidFill>
                <a:latin typeface="Calibri"/>
              </a:rPr>
              <a:t>Stage </a:t>
            </a:r>
            <a:r>
              <a:rPr lang="en-IN" sz="3000" b="1" dirty="0">
                <a:solidFill>
                  <a:srgbClr val="1F4E79"/>
                </a:solidFill>
                <a:latin typeface="Calibri"/>
              </a:rPr>
              <a:t>9</a:t>
            </a:r>
            <a:r>
              <a:rPr sz="3000" b="1" i="0" dirty="0">
                <a:solidFill>
                  <a:srgbClr val="1F4E79"/>
                </a:solidFill>
                <a:latin typeface="Calibri"/>
              </a:rPr>
              <a:t> — Interactive Dashboard  (live demo)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384048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400" b="1" i="0">
                <a:solidFill>
                  <a:srgbClr val="BF8F00"/>
                </a:solidFill>
                <a:latin typeface="Calibri"/>
              </a:rPr>
              <a:t>3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228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dashboard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325880"/>
            <a:ext cx="5760720" cy="42005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325880"/>
            <a:ext cx="54864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•  Eight Streamlit pages reading only persisted artefacts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•  Overview · Segments · Lifetime Value · Churn Risk · Migration · Notifications · ROI · Customer Lookup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 i="0">
                <a:solidFill>
                  <a:srgbClr val="404040"/>
                </a:solidFill>
                <a:latin typeface="Calibri"/>
              </a:rPr>
              <a:t>•  Demo route: Overview → Segments → ROI → finish on Customer Lookup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0" i="0">
                <a:solidFill>
                  <a:srgbClr val="1F4E79"/>
                </a:solidFill>
                <a:latin typeface="Calibri"/>
              </a:rPr>
              <a:t>•  Lookup answers, for any Customer ID: “what should we send this person, and why?” — with the why traceable to explicit rules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•  Turns the batch pipeline into a tool a non-technical marketer can operate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Engineering Rigour &amp; 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384048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400" b="1" i="0">
                <a:solidFill>
                  <a:srgbClr val="BF8F00"/>
                </a:solidFill>
                <a:latin typeface="Calibri"/>
              </a:rPr>
              <a:t>2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228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5568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00" b="0" i="0">
                <a:solidFill>
                  <a:srgbClr val="404040"/>
                </a:solidFill>
                <a:latin typeface="Calibri"/>
              </a:rPr>
              <a:t>•  Fixed seed (42) + pinned snapshot date → byte-identical outputs on every run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00" b="0" i="0">
                <a:solidFill>
                  <a:srgbClr val="404040"/>
                </a:solidFill>
                <a:latin typeface="Calibri"/>
              </a:rPr>
              <a:t>•  20 pytest unit tests on synthetic data — cleaning rules, leakage guard, priority cap, ROI arithmetic all asserted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00" b="0" i="0">
                <a:solidFill>
                  <a:srgbClr val="404040"/>
                </a:solidFill>
                <a:latin typeface="Calibri"/>
              </a:rPr>
              <a:t>•  Single configuration module — no magic numbers; the config file IS the experiment registry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00" b="0" i="0">
                <a:solidFill>
                  <a:srgbClr val="404040"/>
                </a:solidFill>
                <a:latin typeface="Calibri"/>
              </a:rPr>
              <a:t>•  Artefact-mediated coupling: stages communicate only through files → any stage re-runnable and inspectable in isolation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00" b="0" i="0">
                <a:solidFill>
                  <a:srgbClr val="404040"/>
                </a:solidFill>
                <a:latin typeface="Calibri"/>
              </a:rPr>
              <a:t>•  ≈160 s end-to-end on commodity CPU — no GPU, no cluster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00" b="0" i="0">
                <a:solidFill>
                  <a:srgbClr val="404040"/>
                </a:solidFill>
                <a:latin typeface="Calibri"/>
              </a:rPr>
              <a:t>•  Ethics by design: pseudonymised public data, GDPR principles, noise customers get the LEAST aggressive action, cadence-based timing discourages over-contact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Honest Limitations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155680" cy="228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1" i="0">
                <a:solidFill>
                  <a:srgbClr val="1F4E79"/>
                </a:solidFill>
                <a:latin typeface="Calibri"/>
              </a:rPr>
              <a:t>•  Limitations (volunteered, not hidden):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     •  single dataset (one UK retailer, 2009–2011) — no generalisation claim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     •  coarse structure (2 clusters + noise) — what the evidence supports; forcing more degrades quality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     •  CLV: no temporal hold-out → used as ranking, not validated forecast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     •  ROI priors are planning assumptions → hence the uplift framing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1" i="0">
                <a:solidFill>
                  <a:srgbClr val="1F4E79"/>
                </a:solidFill>
                <a:latin typeface="Calibri"/>
              </a:rPr>
              <a:t>•  Future work (in order of value):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     •  A/B-calibrated uplift modelling — target by incremental response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     •  temporal validation of CLV &amp; churn on a longer window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     •  real-time deployment: recommend() behind a service API on streaming features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     •  learned embeddings + GPU implementations at larger scale — the validation framework transfers unchanged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0"/>
            <a:ext cx="12191695" cy="45720"/>
          </a:xfrm>
          <a:prstGeom prst="rect">
            <a:avLst/>
          </a:prstGeom>
          <a:solidFill>
            <a:srgbClr val="11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1.  Rigour changes answers — the evidence rejected the K-Means default, blocked an unjustified “best model” claim, and exposed two silently failing churn models.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2.  The closed loop is the contribution — validated clusters, value forecasts and risk scores only become worth computing when a traceable decision layer turns them into costed actions.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3.  The whole loop fits in one auditable, three-minute, commodity-hardware pipeline — raw transactions in, a costed action per customer 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5778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200" b="1" i="0">
                <a:solidFill>
                  <a:srgbClr val="BDD7EE"/>
                </a:solidFill>
                <a:latin typeface="Calibri"/>
              </a:rPr>
              <a:t>Thank you —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2222</Words>
  <Application>Microsoft Office PowerPoint</Application>
  <PresentationFormat>Widescreen</PresentationFormat>
  <Paragraphs>177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Dickshith Raj Nagaraj [pkxx0818]</cp:lastModifiedBy>
  <cp:revision>3</cp:revision>
  <dcterms:created xsi:type="dcterms:W3CDTF">2013-01-27T09:14:16Z</dcterms:created>
  <dcterms:modified xsi:type="dcterms:W3CDTF">2026-07-22T12:28:12Z</dcterms:modified>
  <cp:category/>
</cp:coreProperties>
</file>